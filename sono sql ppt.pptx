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8288000" cy="10287000"/>
  <p:notesSz cx="6858000" cy="9144000"/>
  <p:embeddedFontLst>
    <p:embeddedFont>
      <p:font typeface="SimSun" panose="02010600030101010101" pitchFamily="2" charset="-122"/>
      <p:regular r:id="rId27"/>
    </p:embeddedFont>
    <p:embeddedFont>
      <p:font typeface="Muli" panose="00000500000000000000"/>
      <p:regular r:id="rId28"/>
    </p:embeddedFont>
    <p:embeddedFont>
      <p:font typeface="Canva Sans Bold" panose="020B0803030501040103"/>
      <p:bold r:id="rId29"/>
    </p:embeddedFont>
    <p:embeddedFont>
      <p:font typeface="Montserrat Semi-Bold" panose="00000700000000000000"/>
      <p:bold r:id="rId30"/>
    </p:embeddedFont>
    <p:embeddedFont>
      <p:font typeface="Montserrat Medium" panose="00000600000000000000"/>
      <p:regular r:id="rId31"/>
    </p:embeddedFont>
    <p:embeddedFont>
      <p:font typeface="Canva Sans" panose="020B0503030501040103"/>
      <p:regular r:id="rId32"/>
    </p:embeddedFont>
    <p:embeddedFont>
      <p:font typeface="Calibri" panose="020F050202020403020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3" d="100"/>
          <a:sy n="73" d="100"/>
        </p:scale>
        <p:origin x="594" y="54"/>
      </p:cViewPr>
      <p:guideLst>
        <p:guide orient="horz" pos="218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font" Target="fonts/font10.fntdata"/><Relationship Id="rId35" Type="http://schemas.openxmlformats.org/officeDocument/2006/relationships/font" Target="fonts/font9.fntdata"/><Relationship Id="rId34" Type="http://schemas.openxmlformats.org/officeDocument/2006/relationships/font" Target="fonts/font8.fntdata"/><Relationship Id="rId33" Type="http://schemas.openxmlformats.org/officeDocument/2006/relationships/font" Target="fonts/font7.fntdata"/><Relationship Id="rId32" Type="http://schemas.openxmlformats.org/officeDocument/2006/relationships/font" Target="fonts/font6.fntdata"/><Relationship Id="rId31" Type="http://schemas.openxmlformats.org/officeDocument/2006/relationships/font" Target="fonts/font5.fntdata"/><Relationship Id="rId30" Type="http://schemas.openxmlformats.org/officeDocument/2006/relationships/font" Target="fonts/font4.fntdata"/><Relationship Id="rId3" Type="http://schemas.openxmlformats.org/officeDocument/2006/relationships/slide" Target="slides/slide1.xml"/><Relationship Id="rId29" Type="http://schemas.openxmlformats.org/officeDocument/2006/relationships/font" Target="fonts/font3.fntdata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095626" y="2552700"/>
            <a:ext cx="13817600" cy="1624013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3095626" y="4391025"/>
            <a:ext cx="13827124" cy="26289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6884195"/>
            <a:ext cx="15773400" cy="2250281"/>
          </a:xfrm>
        </p:spPr>
        <p:txBody>
          <a:bodyPr/>
          <a:lstStyle>
            <a:lvl1pPr marL="0" indent="0">
              <a:buNone/>
              <a:defRPr sz="3600"/>
            </a:lvl1pPr>
            <a:lvl2pPr marL="685800" indent="0">
              <a:buNone/>
              <a:defRPr sz="3000"/>
            </a:lvl2pPr>
            <a:lvl3pPr marL="1371600" indent="0">
              <a:buNone/>
              <a:defRPr sz="2700"/>
            </a:lvl3pPr>
            <a:lvl4pPr marL="2057400" indent="0">
              <a:buNone/>
              <a:defRPr sz="2400"/>
            </a:lvl4pPr>
            <a:lvl5pPr marL="2743200" indent="0">
              <a:buNone/>
              <a:defRPr sz="2400"/>
            </a:lvl5pPr>
            <a:lvl6pPr marL="3429000" indent="0">
              <a:buNone/>
              <a:defRPr sz="2400"/>
            </a:lvl6pPr>
            <a:lvl7pPr marL="4114800" indent="0">
              <a:buNone/>
              <a:defRPr sz="2400"/>
            </a:lvl7pPr>
            <a:lvl8pPr marL="4800600" indent="0">
              <a:buNone/>
              <a:defRPr sz="2400"/>
            </a:lvl8pPr>
            <a:lvl9pPr marL="5486400" indent="0">
              <a:buNone/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62125"/>
            <a:ext cx="8077200" cy="742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1762125"/>
            <a:ext cx="8077200" cy="742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547688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0476" y="2521745"/>
            <a:ext cx="7737474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0476" y="3757613"/>
            <a:ext cx="7737474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5576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5576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5576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0476" y="685800"/>
            <a:ext cx="5899150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5576" y="1481138"/>
            <a:ext cx="9258300" cy="7310438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60476" y="3086100"/>
            <a:ext cx="5899150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285750"/>
            <a:ext cx="4114800" cy="89058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85750"/>
            <a:ext cx="12039600" cy="89058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2700" y="0"/>
            <a:ext cx="18300700" cy="10287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914400" y="285750"/>
            <a:ext cx="16459200" cy="87392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914400" y="1762125"/>
            <a:ext cx="16459200" cy="74295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2100"/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9367838"/>
            <a:ext cx="5791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21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3106400" y="9367838"/>
            <a:ext cx="4267200" cy="714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100"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5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514350" indent="-514350" algn="l" rtl="0" fontAlgn="base">
        <a:spcBef>
          <a:spcPct val="30000"/>
        </a:spcBef>
        <a:spcAft>
          <a:spcPct val="0"/>
        </a:spcAft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1114425" indent="-428625" algn="l" rtl="0" fontAlgn="base">
        <a:spcBef>
          <a:spcPct val="30000"/>
        </a:spcBef>
        <a:spcAft>
          <a:spcPct val="0"/>
        </a:spcAft>
        <a:buChar char="–"/>
        <a:defRPr sz="42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rtl="0" fontAlgn="base">
        <a:spcBef>
          <a:spcPct val="30000"/>
        </a:spcBef>
        <a:spcAft>
          <a:spcPct val="0"/>
        </a:spcAft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rtl="0" fontAlgn="base">
        <a:spcBef>
          <a:spcPct val="30000"/>
        </a:spcBef>
        <a:spcAft>
          <a:spcPct val="0"/>
        </a:spcAft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rtl="0" fontAlgn="base">
        <a:spcBef>
          <a:spcPct val="30000"/>
        </a:spcBef>
        <a:spcAft>
          <a:spcPct val="0"/>
        </a:spcAft>
        <a:buChar char="»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14586" y="3959225"/>
            <a:ext cx="13658828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sz="8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ague Gothic" panose="00000500000000000000"/>
                <a:ea typeface="League Gothic" panose="00000500000000000000"/>
                <a:cs typeface="League Gothic" panose="00000500000000000000"/>
                <a:sym typeface="League Gothic" panose="00000500000000000000"/>
              </a:rPr>
              <a:t>DATA ANALYSIS &amp;</a:t>
            </a:r>
            <a:r>
              <a:rPr lang="en-US" sz="8000">
                <a:solidFill>
                  <a:srgbClr val="FFFFFF"/>
                </a:solidFill>
                <a:latin typeface="League Gothic" panose="00000500000000000000"/>
                <a:ea typeface="League Gothic" panose="00000500000000000000"/>
                <a:cs typeface="League Gothic" panose="00000500000000000000"/>
                <a:sym typeface="League Gothic" panose="00000500000000000000"/>
              </a:rPr>
              <a:t> </a:t>
            </a:r>
            <a:r>
              <a:rPr lang="en-US" sz="8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ague Gothic" panose="00000500000000000000"/>
                <a:ea typeface="League Gothic" panose="00000500000000000000"/>
                <a:cs typeface="League Gothic" panose="00000500000000000000"/>
                <a:sym typeface="League Gothic" panose="00000500000000000000"/>
              </a:rPr>
              <a:t>RECOMMENDATIONS</a:t>
            </a:r>
            <a:endParaRPr lang="en-US" sz="8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eague Gothic" panose="00000500000000000000"/>
              <a:ea typeface="League Gothic" panose="00000500000000000000"/>
              <a:cs typeface="League Gothic" panose="00000500000000000000"/>
              <a:sym typeface="League Gothic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745480" y="8551545"/>
            <a:ext cx="5767070" cy="72072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2610"/>
              </a:lnSpc>
            </a:pPr>
            <a:r>
              <a:rPr lang="en-US" sz="1800" spc="379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BY - </a:t>
            </a:r>
            <a:r>
              <a:rPr lang="en-IN" altLang="en-US" sz="1800" spc="379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Sono kumar Routh</a:t>
            </a:r>
            <a:endParaRPr lang="en-IN" altLang="en-US" sz="1800" spc="379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4953633" y="2885399"/>
            <a:ext cx="8380734" cy="77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200" spc="629">
                <a:ln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CHINOOK </a:t>
            </a:r>
            <a:r>
              <a:rPr lang="en-US" sz="4200">
                <a:ln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MUSIC </a:t>
            </a:r>
            <a:r>
              <a:rPr lang="en-US" sz="4200" spc="629">
                <a:ln/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STORE</a:t>
            </a:r>
            <a:r>
              <a:rPr lang="en-US" sz="4200" spc="629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70C0"/>
                </a:solidFill>
                <a:effectLst/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 </a:t>
            </a:r>
            <a:r>
              <a:rPr lang="en-US" sz="4200" spc="629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–</a:t>
            </a:r>
            <a:endParaRPr lang="en-US" sz="4200" spc="629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676756" y="1138943"/>
            <a:ext cx="8380734" cy="733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5"/>
              </a:lnSpc>
            </a:pPr>
            <a:r>
              <a:rPr lang="en-US" sz="4200" spc="629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PROBLEM STATEMENT</a:t>
            </a:r>
            <a:endParaRPr lang="en-US" sz="4200" spc="629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476141" y="3710708"/>
            <a:ext cx="15335718" cy="158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5"/>
              </a:lnSpc>
            </a:pPr>
            <a:r>
              <a:rPr lang="en-US" sz="302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You are hired as a data analyst at Chinook, and your objective is to analyze music record sales data to gain insights and make recommendations for the company's strategy in the physical music market.</a:t>
            </a:r>
            <a:endParaRPr lang="en-US" sz="302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051015" y="1066550"/>
            <a:ext cx="6715709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AGENDA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513829" y="2624328"/>
            <a:ext cx="9777889" cy="4876419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690880" lvl="1" indent="-345440" algn="l">
              <a:lnSpc>
                <a:spcPts val="5570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About Chinook &amp; problem statement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690880" lvl="1" indent="-345440" algn="l">
              <a:lnSpc>
                <a:spcPts val="5570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Data overview &amp; objectives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690880" lvl="1" indent="-345440" algn="l">
              <a:lnSpc>
                <a:spcPts val="5570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Key insights: sales, customers, regions, genres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690880" lvl="1" indent="-345440" algn="l">
              <a:lnSpc>
                <a:spcPts val="5570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Churn &amp; risk analysis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690880" lvl="1" indent="-345440" algn="l">
              <a:lnSpc>
                <a:spcPts val="5570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Product affinity &amp; cross-sell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690880" lvl="1" indent="-345440" algn="l">
              <a:lnSpc>
                <a:spcPts val="5570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Recommendations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l">
              <a:lnSpc>
                <a:spcPts val="5570"/>
              </a:lnSpc>
            </a:pP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60252" y="1285995"/>
            <a:ext cx="10741076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ABOUT CHINOOK - </a:t>
            </a:r>
            <a:r>
              <a:rPr lang="en-US" sz="4800" spc="720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DATASET</a:t>
            </a:r>
            <a:endParaRPr lang="en-US" sz="4800" spc="720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771051" y="3396449"/>
            <a:ext cx="12273233" cy="2684768"/>
            <a:chOff x="0" y="0"/>
            <a:chExt cx="16364310" cy="3579691"/>
          </a:xfrm>
        </p:grpSpPr>
        <p:sp>
          <p:nvSpPr>
            <p:cNvPr id="5" name="TextBox 5"/>
            <p:cNvSpPr txBox="1"/>
            <p:nvPr/>
          </p:nvSpPr>
          <p:spPr>
            <a:xfrm>
              <a:off x="1003947" y="19050"/>
              <a:ext cx="15360363" cy="564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5"/>
                </a:lnSpc>
              </a:pPr>
              <a:r>
                <a:rPr lang="en-US" sz="2925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Global music store with both digital and physical presence</a:t>
              </a:r>
              <a:endParaRPr lang="en-US" sz="29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1416316" cy="568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0"/>
                </a:lnSpc>
              </a:pPr>
              <a:r>
                <a:rPr lang="en-US" sz="2930" b="1">
                  <a:solidFill>
                    <a:srgbClr val="FFFFFF"/>
                  </a:solidFill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01</a:t>
              </a:r>
              <a:endParaRPr lang="en-US" sz="2930" b="1">
                <a:solidFill>
                  <a:srgbClr val="FFFFFF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2440440"/>
              <a:ext cx="1416316" cy="568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0"/>
                </a:lnSpc>
              </a:pPr>
              <a:r>
                <a:rPr lang="en-US" sz="2930" b="1">
                  <a:solidFill>
                    <a:srgbClr val="FFFFFF"/>
                  </a:solidFill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03</a:t>
              </a:r>
              <a:endParaRPr lang="en-US" sz="2930" b="1">
                <a:solidFill>
                  <a:srgbClr val="FFFFFF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1303972"/>
              <a:ext cx="1416316" cy="5680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70"/>
                </a:lnSpc>
              </a:pPr>
              <a:r>
                <a:rPr lang="en-US" sz="2930" b="1">
                  <a:solidFill>
                    <a:srgbClr val="FFFFFF"/>
                  </a:solidFill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02</a:t>
              </a:r>
              <a:endParaRPr lang="en-US" sz="2930" b="1">
                <a:solidFill>
                  <a:srgbClr val="FFFFFF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03947" y="1307497"/>
              <a:ext cx="13709898" cy="564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5"/>
                </a:lnSpc>
              </a:pPr>
              <a:r>
                <a:rPr lang="en-US" sz="2925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Customers across 24 countries and 25+ genres</a:t>
              </a:r>
              <a:endParaRPr lang="en-US" sz="29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3947" y="2456357"/>
              <a:ext cx="13709898" cy="11233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5"/>
                </a:lnSpc>
              </a:pPr>
              <a:r>
                <a:rPr lang="en-US" sz="2925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Dataset includes 11 relational tables with sales and customer records</a:t>
              </a:r>
              <a:endParaRPr lang="en-US" sz="2925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067261" y="784372"/>
            <a:ext cx="11534994" cy="8473928"/>
          </a:xfrm>
          <a:custGeom>
            <a:avLst/>
            <a:gdLst/>
            <a:ahLst/>
            <a:cxnLst/>
            <a:rect l="l" t="t" r="r" b="b"/>
            <a:pathLst>
              <a:path w="11534994" h="8473928">
                <a:moveTo>
                  <a:pt x="0" y="0"/>
                </a:moveTo>
                <a:lnTo>
                  <a:pt x="11534994" y="0"/>
                </a:lnTo>
                <a:lnTo>
                  <a:pt x="11534994" y="8473928"/>
                </a:lnTo>
                <a:lnTo>
                  <a:pt x="0" y="847392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16587" y="869258"/>
            <a:ext cx="7915799" cy="726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25"/>
              </a:lnSpc>
              <a:spcBef>
                <a:spcPct val="0"/>
              </a:spcBef>
            </a:pPr>
            <a:r>
              <a:rPr lang="en-US" sz="5115" b="1" spc="-138">
                <a:solidFill>
                  <a:srgbClr val="0070C0"/>
                </a:solidFill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rPr>
              <a:t>Methodology</a:t>
            </a:r>
            <a:endParaRPr lang="en-US" sz="5115" b="1" spc="-138">
              <a:solidFill>
                <a:srgbClr val="0070C0"/>
              </a:solidFill>
              <a:latin typeface="Montserrat Semi-Bold" panose="00000700000000000000"/>
              <a:ea typeface="Montserrat Semi-Bold" panose="00000700000000000000"/>
              <a:cs typeface="Montserrat Semi-Bold" panose="00000700000000000000"/>
              <a:sym typeface="Montserrat Semi-Bold" panose="00000700000000000000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4170604" y="2493695"/>
            <a:ext cx="10561782" cy="977574"/>
            <a:chOff x="0" y="0"/>
            <a:chExt cx="2781704" cy="2574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81704" cy="257468"/>
            </a:xfrm>
            <a:custGeom>
              <a:avLst/>
              <a:gdLst/>
              <a:ahLst/>
              <a:cxnLst/>
              <a:rect l="l" t="t" r="r" b="b"/>
              <a:pathLst>
                <a:path w="2781704" h="257468">
                  <a:moveTo>
                    <a:pt x="12461" y="0"/>
                  </a:moveTo>
                  <a:lnTo>
                    <a:pt x="2769243" y="0"/>
                  </a:lnTo>
                  <a:cubicBezTo>
                    <a:pt x="2772548" y="0"/>
                    <a:pt x="2775717" y="1313"/>
                    <a:pt x="2778054" y="3650"/>
                  </a:cubicBezTo>
                  <a:cubicBezTo>
                    <a:pt x="2780391" y="5987"/>
                    <a:pt x="2781704" y="9156"/>
                    <a:pt x="2781704" y="12461"/>
                  </a:cubicBezTo>
                  <a:lnTo>
                    <a:pt x="2781704" y="245007"/>
                  </a:lnTo>
                  <a:cubicBezTo>
                    <a:pt x="2781704" y="251889"/>
                    <a:pt x="2776125" y="257468"/>
                    <a:pt x="2769243" y="257468"/>
                  </a:cubicBezTo>
                  <a:lnTo>
                    <a:pt x="12461" y="257468"/>
                  </a:lnTo>
                  <a:cubicBezTo>
                    <a:pt x="5579" y="257468"/>
                    <a:pt x="0" y="251889"/>
                    <a:pt x="0" y="245007"/>
                  </a:cubicBezTo>
                  <a:lnTo>
                    <a:pt x="0" y="12461"/>
                  </a:lnTo>
                  <a:cubicBezTo>
                    <a:pt x="0" y="5579"/>
                    <a:pt x="5579" y="0"/>
                    <a:pt x="124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19050"/>
              <a:ext cx="2781704" cy="23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           </a:t>
              </a:r>
              <a:r>
                <a:rPr lang="en-US" sz="36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01 Undetstanding data</a:t>
              </a:r>
              <a:endPara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170604" y="4252319"/>
            <a:ext cx="10561782" cy="977574"/>
            <a:chOff x="0" y="0"/>
            <a:chExt cx="2781704" cy="2574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81704" cy="257468"/>
            </a:xfrm>
            <a:custGeom>
              <a:avLst/>
              <a:gdLst/>
              <a:ahLst/>
              <a:cxnLst/>
              <a:rect l="l" t="t" r="r" b="b"/>
              <a:pathLst>
                <a:path w="2781704" h="257468">
                  <a:moveTo>
                    <a:pt x="12461" y="0"/>
                  </a:moveTo>
                  <a:lnTo>
                    <a:pt x="2769243" y="0"/>
                  </a:lnTo>
                  <a:cubicBezTo>
                    <a:pt x="2772548" y="0"/>
                    <a:pt x="2775717" y="1313"/>
                    <a:pt x="2778054" y="3650"/>
                  </a:cubicBezTo>
                  <a:cubicBezTo>
                    <a:pt x="2780391" y="5987"/>
                    <a:pt x="2781704" y="9156"/>
                    <a:pt x="2781704" y="12461"/>
                  </a:cubicBezTo>
                  <a:lnTo>
                    <a:pt x="2781704" y="245007"/>
                  </a:lnTo>
                  <a:cubicBezTo>
                    <a:pt x="2781704" y="251889"/>
                    <a:pt x="2776125" y="257468"/>
                    <a:pt x="2769243" y="257468"/>
                  </a:cubicBezTo>
                  <a:lnTo>
                    <a:pt x="12461" y="257468"/>
                  </a:lnTo>
                  <a:cubicBezTo>
                    <a:pt x="5579" y="257468"/>
                    <a:pt x="0" y="251889"/>
                    <a:pt x="0" y="245007"/>
                  </a:cubicBezTo>
                  <a:lnTo>
                    <a:pt x="0" y="12461"/>
                  </a:lnTo>
                  <a:cubicBezTo>
                    <a:pt x="0" y="5579"/>
                    <a:pt x="5579" y="0"/>
                    <a:pt x="124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19050"/>
              <a:ext cx="2781704" cy="23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           </a:t>
              </a:r>
              <a:r>
                <a:rPr lang="en-US" sz="36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02 Cleaning data</a:t>
              </a:r>
              <a:endPara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</p:grpSp>
      <p:sp>
        <p:nvSpPr>
          <p:cNvPr id="10" name="AutoShape 10"/>
          <p:cNvSpPr/>
          <p:nvPr/>
        </p:nvSpPr>
        <p:spPr>
          <a:xfrm flipH="1">
            <a:off x="9172091" y="3471269"/>
            <a:ext cx="0" cy="781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" name="AutoShape 11"/>
          <p:cNvSpPr/>
          <p:nvPr/>
        </p:nvSpPr>
        <p:spPr>
          <a:xfrm flipH="1">
            <a:off x="9191141" y="5229894"/>
            <a:ext cx="0" cy="781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2" name="Group 12"/>
          <p:cNvGrpSpPr/>
          <p:nvPr/>
        </p:nvGrpSpPr>
        <p:grpSpPr>
          <a:xfrm>
            <a:off x="4170604" y="6010944"/>
            <a:ext cx="10561782" cy="977574"/>
            <a:chOff x="0" y="0"/>
            <a:chExt cx="2781704" cy="2574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81704" cy="257468"/>
            </a:xfrm>
            <a:custGeom>
              <a:avLst/>
              <a:gdLst/>
              <a:ahLst/>
              <a:cxnLst/>
              <a:rect l="l" t="t" r="r" b="b"/>
              <a:pathLst>
                <a:path w="2781704" h="257468">
                  <a:moveTo>
                    <a:pt x="12461" y="0"/>
                  </a:moveTo>
                  <a:lnTo>
                    <a:pt x="2769243" y="0"/>
                  </a:lnTo>
                  <a:cubicBezTo>
                    <a:pt x="2772548" y="0"/>
                    <a:pt x="2775717" y="1313"/>
                    <a:pt x="2778054" y="3650"/>
                  </a:cubicBezTo>
                  <a:cubicBezTo>
                    <a:pt x="2780391" y="5987"/>
                    <a:pt x="2781704" y="9156"/>
                    <a:pt x="2781704" y="12461"/>
                  </a:cubicBezTo>
                  <a:lnTo>
                    <a:pt x="2781704" y="245007"/>
                  </a:lnTo>
                  <a:cubicBezTo>
                    <a:pt x="2781704" y="251889"/>
                    <a:pt x="2776125" y="257468"/>
                    <a:pt x="2769243" y="257468"/>
                  </a:cubicBezTo>
                  <a:lnTo>
                    <a:pt x="12461" y="257468"/>
                  </a:lnTo>
                  <a:cubicBezTo>
                    <a:pt x="5579" y="257468"/>
                    <a:pt x="0" y="251889"/>
                    <a:pt x="0" y="245007"/>
                  </a:cubicBezTo>
                  <a:lnTo>
                    <a:pt x="0" y="12461"/>
                  </a:lnTo>
                  <a:cubicBezTo>
                    <a:pt x="0" y="5579"/>
                    <a:pt x="5579" y="0"/>
                    <a:pt x="124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19050"/>
              <a:ext cx="2781704" cy="23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4140"/>
                </a:lnSpc>
              </a:pPr>
              <a:r>
                <a:rPr lang="en-US" sz="3600" b="1">
                  <a:solidFill>
                    <a:srgbClr val="FFFFFF"/>
                  </a:solidFill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         </a:t>
              </a:r>
              <a:r>
                <a:rPr lang="en-US" sz="36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  03 Exploring data</a:t>
              </a:r>
              <a:endPara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flipH="1">
            <a:off x="9210191" y="6988518"/>
            <a:ext cx="0" cy="78105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6" name="Group 16"/>
          <p:cNvGrpSpPr/>
          <p:nvPr/>
        </p:nvGrpSpPr>
        <p:grpSpPr>
          <a:xfrm>
            <a:off x="4170604" y="7769568"/>
            <a:ext cx="10561782" cy="977574"/>
            <a:chOff x="0" y="0"/>
            <a:chExt cx="2781704" cy="2574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81704" cy="257468"/>
            </a:xfrm>
            <a:custGeom>
              <a:avLst/>
              <a:gdLst/>
              <a:ahLst/>
              <a:cxnLst/>
              <a:rect l="l" t="t" r="r" b="b"/>
              <a:pathLst>
                <a:path w="2781704" h="257468">
                  <a:moveTo>
                    <a:pt x="12461" y="0"/>
                  </a:moveTo>
                  <a:lnTo>
                    <a:pt x="2769243" y="0"/>
                  </a:lnTo>
                  <a:cubicBezTo>
                    <a:pt x="2772548" y="0"/>
                    <a:pt x="2775717" y="1313"/>
                    <a:pt x="2778054" y="3650"/>
                  </a:cubicBezTo>
                  <a:cubicBezTo>
                    <a:pt x="2780391" y="5987"/>
                    <a:pt x="2781704" y="9156"/>
                    <a:pt x="2781704" y="12461"/>
                  </a:cubicBezTo>
                  <a:lnTo>
                    <a:pt x="2781704" y="245007"/>
                  </a:lnTo>
                  <a:cubicBezTo>
                    <a:pt x="2781704" y="251889"/>
                    <a:pt x="2776125" y="257468"/>
                    <a:pt x="2769243" y="257468"/>
                  </a:cubicBezTo>
                  <a:lnTo>
                    <a:pt x="12461" y="257468"/>
                  </a:lnTo>
                  <a:cubicBezTo>
                    <a:pt x="5579" y="257468"/>
                    <a:pt x="0" y="251889"/>
                    <a:pt x="0" y="245007"/>
                  </a:cubicBezTo>
                  <a:lnTo>
                    <a:pt x="0" y="12461"/>
                  </a:lnTo>
                  <a:cubicBezTo>
                    <a:pt x="0" y="5579"/>
                    <a:pt x="5579" y="0"/>
                    <a:pt x="1246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19050"/>
              <a:ext cx="2781704" cy="23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0"/>
                </a:lnSpc>
              </a:pPr>
              <a:r>
                <a:rPr lang="en-US" sz="3600" b="1"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Montserrat Semi-Bold" panose="00000700000000000000"/>
                  <a:ea typeface="Montserrat Semi-Bold" panose="00000700000000000000"/>
                  <a:cs typeface="Montserrat Semi-Bold" panose="00000700000000000000"/>
                  <a:sym typeface="Montserrat Semi-Bold" panose="00000700000000000000"/>
                </a:rPr>
                <a:t>04 Insights and recommendation</a:t>
              </a:r>
              <a:endParaRPr lang="en-US" sz="36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Semi-Bold" panose="00000700000000000000"/>
                <a:ea typeface="Montserrat Semi-Bold" panose="00000700000000000000"/>
                <a:cs typeface="Montserrat Semi-Bold" panose="00000700000000000000"/>
                <a:sym typeface="Montserrat Semi-Bold" panose="0000070000000000000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422000"/>
            <a:ext cx="11720795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 TOP TRACKS &amp; ARTISTS (USA)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  <a:p>
            <a:pPr algn="l">
              <a:lnSpc>
                <a:spcPts val="6960"/>
              </a:lnSpc>
            </a:pP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136886"/>
            <a:ext cx="9095050" cy="5266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War Pigs by Cake (Alt) is the best-selling track — 6 purchases, $5.94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Nirvana and Amy Winehouse also rank among top contributors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Genres led by Alternative, R&amp;B/Soul, Metal, and Rock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Sales spread indicates opportunity to promote emerging artists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algn="l">
              <a:lnSpc>
                <a:spcPts val="4670"/>
              </a:lnSpc>
            </a:pP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7498946"/>
            <a:ext cx="15455693" cy="1471930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Insight: Sales spread across a few artists; Nirvana and Amy Winehouse stand out.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Invest in artist-focused promotions and exclusive deals.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3920"/>
              </a:lnSpc>
            </a:pP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744384" y="3009994"/>
            <a:ext cx="7235905" cy="3338754"/>
          </a:xfrm>
          <a:custGeom>
            <a:avLst/>
            <a:gdLst/>
            <a:ahLst/>
            <a:cxnLst/>
            <a:rect l="l" t="t" r="r" b="b"/>
            <a:pathLst>
              <a:path w="7235905" h="3338754">
                <a:moveTo>
                  <a:pt x="0" y="0"/>
                </a:moveTo>
                <a:lnTo>
                  <a:pt x="7235905" y="0"/>
                </a:lnTo>
                <a:lnTo>
                  <a:pt x="7235905" y="3338753"/>
                </a:lnTo>
                <a:lnTo>
                  <a:pt x="0" y="3338753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75232" y="1137285"/>
            <a:ext cx="10421602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CUSTOMER DEMOGRAPHICS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419653" y="2988815"/>
            <a:ext cx="11373962" cy="3495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595" lvl="1" indent="-285115" algn="just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Strongest presence in USA and Canada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just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High concentration in urban hubs like Prague, São Paulo, Paris, Berlin, and London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just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Data lacks age and gender details, so insights are location-focused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algn="just">
              <a:lnSpc>
                <a:spcPts val="4670"/>
              </a:lnSpc>
            </a:pP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3419653" y="6170715"/>
            <a:ext cx="13311426" cy="1783207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604520" lvl="1" indent="-302260" algn="ctr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Insight: Strongest base in USA/Canada; customer presence is urban-heavy.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ctr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Target campaigns in major cities to boost conversion.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ctr">
              <a:lnSpc>
                <a:spcPts val="4845"/>
              </a:lnSpc>
            </a:pP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821268" y="358363"/>
            <a:ext cx="11699497" cy="170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REVENUE &amp; INVOICES BY CITY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  <a:p>
            <a:pPr algn="l">
              <a:lnSpc>
                <a:spcPts val="6960"/>
              </a:lnSpc>
            </a:pP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40557" y="1753517"/>
            <a:ext cx="9095050" cy="4676260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Prague leads with 30 invoices, $273.24 in revenue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Mountain View (USA) follows with 20 invoices, $169.29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London, Berlin, and Paris contribute ~$150–166 each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Mid-tier cities: Dublin, Delhi, Lisbon ~$100–115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Several smaller cities add less than $50 each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algn="l">
              <a:lnSpc>
                <a:spcPts val="4670"/>
              </a:lnSpc>
            </a:pP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40557" y="6255893"/>
            <a:ext cx="9797892" cy="3002407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604520" lvl="1" indent="-302260" algn="l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Insight: Prague and Mountain View are top revenue hubs; Europe shows strong mid-tier cities.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l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Strengthen engagement in high-revenue cities with localized offers.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845"/>
              </a:lnSpc>
            </a:pP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868885" y="1525179"/>
            <a:ext cx="5699193" cy="7903819"/>
          </a:xfrm>
          <a:custGeom>
            <a:avLst/>
            <a:gdLst/>
            <a:ahLst/>
            <a:cxnLst/>
            <a:rect l="l" t="t" r="r" b="b"/>
            <a:pathLst>
              <a:path w="5699193" h="7903819">
                <a:moveTo>
                  <a:pt x="0" y="0"/>
                </a:moveTo>
                <a:lnTo>
                  <a:pt x="5699193" y="0"/>
                </a:lnTo>
                <a:lnTo>
                  <a:pt x="5699193" y="7903819"/>
                </a:lnTo>
                <a:lnTo>
                  <a:pt x="0" y="790381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041083" y="689764"/>
            <a:ext cx="869644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CUSTOMER BEHAVIOR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99086" y="4247211"/>
            <a:ext cx="13599814" cy="3125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6305"/>
              </a:lnSpc>
              <a:buAutoNum type="arabicPeriod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</a:t>
            </a: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Long-term</a:t>
            </a: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customers: Revenue ≈ $4,605, Avg basket ≈ 84.6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90880" lvl="1" indent="-345440" algn="l">
              <a:lnSpc>
                <a:spcPts val="6305"/>
              </a:lnSpc>
              <a:buAutoNum type="arabicPeriod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New</a:t>
            </a: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customers: Revenue ≈ $104, Avg basket ≈ 56.1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90880" lvl="1" indent="-345440" algn="l">
              <a:lnSpc>
                <a:spcPts val="6305"/>
              </a:lnSpc>
              <a:buAutoNum type="arabicPeriod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Long-term buyers place more orders (10.5 vs. 7.0)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90880" lvl="1" indent="-345440" algn="l">
              <a:lnSpc>
                <a:spcPts val="6305"/>
              </a:lnSpc>
              <a:buAutoNum type="arabicPeriod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Retention of loyal customers is critical for sustained growth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09600" y="7616780"/>
            <a:ext cx="17619654" cy="2032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Insight: Long-term customers contribute ~97% of total revenue.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marL="690880" lvl="1" indent="-345440" algn="l">
              <a:lnSpc>
                <a:spcPts val="5535"/>
              </a:lnSpc>
              <a:buFont typeface="Arial" panose="020B0604020202020204"/>
              <a:buChar char="•"/>
            </a:pPr>
            <a:r>
              <a:rPr lang="en-US" sz="32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Recommendation: Prioritize retention and loyalty programs over new acquisition.</a:t>
            </a: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  <a:p>
            <a:pPr algn="l">
              <a:lnSpc>
                <a:spcPts val="5535"/>
              </a:lnSpc>
            </a:pPr>
            <a:endParaRPr lang="en-US" sz="32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4834700" y="2075598"/>
            <a:ext cx="7109211" cy="2011459"/>
          </a:xfrm>
          <a:custGeom>
            <a:avLst/>
            <a:gdLst/>
            <a:ahLst/>
            <a:cxnLst/>
            <a:rect l="l" t="t" r="r" b="b"/>
            <a:pathLst>
              <a:path w="7109211" h="2011459">
                <a:moveTo>
                  <a:pt x="0" y="0"/>
                </a:moveTo>
                <a:lnTo>
                  <a:pt x="7109212" y="0"/>
                </a:lnTo>
                <a:lnTo>
                  <a:pt x="7109212" y="2011459"/>
                </a:lnTo>
                <a:lnTo>
                  <a:pt x="0" y="2011459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3595"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782453" y="391589"/>
            <a:ext cx="869644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CHURN ANALYSIS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1664152" y="1883378"/>
            <a:ext cx="6192622" cy="7374922"/>
          </a:xfrm>
          <a:custGeom>
            <a:avLst/>
            <a:gdLst/>
            <a:ahLst/>
            <a:cxnLst/>
            <a:rect l="l" t="t" r="r" b="b"/>
            <a:pathLst>
              <a:path w="6192622" h="7374922">
                <a:moveTo>
                  <a:pt x="0" y="0"/>
                </a:moveTo>
                <a:lnTo>
                  <a:pt x="6192622" y="0"/>
                </a:lnTo>
                <a:lnTo>
                  <a:pt x="6192622" y="7374922"/>
                </a:lnTo>
                <a:lnTo>
                  <a:pt x="0" y="7374922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73" b="-973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404667" y="2772113"/>
            <a:ext cx="10123093" cy="39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3920"/>
              </a:lnSpc>
              <a:buAutoNum type="arabicPeriod"/>
            </a:pPr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Global churn rate = 27.1% (~1 in 4 inactive after 6 months)</a:t>
            </a:r>
            <a:endParaRPr 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604520" lvl="1" indent="-302260" algn="l">
              <a:lnSpc>
                <a:spcPts val="3920"/>
              </a:lnSpc>
              <a:buAutoNum type="arabicPeriod"/>
            </a:pPr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USA and Canada stable with churn below 16%</a:t>
            </a:r>
            <a:endParaRPr 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604520" lvl="1" indent="-302260" algn="l">
              <a:lnSpc>
                <a:spcPts val="3920"/>
              </a:lnSpc>
              <a:buAutoNum type="arabicPeriod"/>
            </a:pPr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Germany (50%) and France/Brazil (40%) show high churn risk</a:t>
            </a:r>
            <a:endParaRPr 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604520" lvl="1" indent="-302260" algn="l">
              <a:lnSpc>
                <a:spcPts val="3920"/>
              </a:lnSpc>
              <a:buAutoNum type="arabicPeriod"/>
            </a:pPr>
            <a:r>
              <a:rPr lang="en-US" sz="28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Some smaller markets record 100% churn but with very few customers</a:t>
            </a:r>
            <a:endParaRPr 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algn="l">
              <a:lnSpc>
                <a:spcPts val="3920"/>
              </a:lnSpc>
            </a:pPr>
            <a:endParaRPr lang="en-US" sz="280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56284" y="6378417"/>
            <a:ext cx="8822614" cy="2392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45"/>
              </a:lnSpc>
            </a:pPr>
            <a:endParaRPr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604520" lvl="1" indent="-302260" algn="l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Launch retention campaigns in high-churn regions.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845"/>
              </a:lnSpc>
            </a:pP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28590" y="923925"/>
            <a:ext cx="129773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GENRE &amp; ARTIST INSIGHTS (USA)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9499012" y="2804648"/>
            <a:ext cx="8320429" cy="4869387"/>
          </a:xfrm>
          <a:custGeom>
            <a:avLst/>
            <a:gdLst/>
            <a:ahLst/>
            <a:cxnLst/>
            <a:rect l="l" t="t" r="r" b="b"/>
            <a:pathLst>
              <a:path w="8320429" h="4869387">
                <a:moveTo>
                  <a:pt x="0" y="0"/>
                </a:moveTo>
                <a:lnTo>
                  <a:pt x="8320429" y="0"/>
                </a:lnTo>
                <a:lnTo>
                  <a:pt x="8320429" y="4869388"/>
                </a:lnTo>
                <a:lnTo>
                  <a:pt x="0" y="4869388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1279" t="-3936" r="-2303" b="-3499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97471" y="2485703"/>
            <a:ext cx="8846529" cy="4676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Rock dominates with 11.8% of sales (~$555)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Alternative &amp; Punk ($128.7) and Metal ($122.8) are strong secondary genres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Top Rock Artists: Queen, Jimi Hendrix, Nirvana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Top Metal Artists: Metallica, Godsmack, System of a Down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marL="569595" lvl="1" indent="-285115" algn="l">
              <a:lnSpc>
                <a:spcPts val="4670"/>
              </a:lnSpc>
              <a:buFont typeface="Arial" panose="020B0604020202020204"/>
              <a:buChar char="•"/>
            </a:pPr>
            <a:r>
              <a:rPr lang="en-US" sz="264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ontserrat Medium" panose="00000600000000000000"/>
                <a:ea typeface="Montserrat Medium" panose="00000600000000000000"/>
                <a:cs typeface="Montserrat Medium" panose="00000600000000000000"/>
                <a:sym typeface="Montserrat Medium" panose="00000600000000000000"/>
              </a:rPr>
              <a:t>Least popular genres: Latin and Pop</a:t>
            </a: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  <a:p>
            <a:pPr algn="l">
              <a:lnSpc>
                <a:spcPts val="4670"/>
              </a:lnSpc>
            </a:pPr>
            <a:endParaRPr lang="en-US" sz="2640" b="1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ontserrat Medium" panose="00000600000000000000"/>
              <a:ea typeface="Montserrat Medium" panose="00000600000000000000"/>
              <a:cs typeface="Montserrat Medium" panose="00000600000000000000"/>
              <a:sym typeface="Montserrat Medium" panose="000006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97471" y="7019088"/>
            <a:ext cx="8822614" cy="1783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Diversify promotions across Rock and emerging genres.</a:t>
            </a: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845"/>
              </a:lnSpc>
            </a:pPr>
            <a:endParaRPr lang="en-US" sz="2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Box 3"/>
          <p:cNvSpPr txBox="1"/>
          <p:nvPr/>
        </p:nvSpPr>
        <p:spPr>
          <a:xfrm>
            <a:off x="2483037" y="561975"/>
            <a:ext cx="12305667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GENRE INSIGHTS (OUTSIDE USA)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2" name="TextBox 2"/>
          <p:cNvSpPr txBox="1"/>
          <p:nvPr/>
        </p:nvSpPr>
        <p:spPr>
          <a:xfrm>
            <a:off x="990600" y="2704852"/>
            <a:ext cx="17833063" cy="502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North America (Canada): Rock leads, Metal is strong #2.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South America (Brazil, Argentina, Chile): Rock dominates; Alternative &amp; Punk is the common #2.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Europe: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Rock is consistently #1 across most countries.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Metal is the most frequent #2 (Germany, France, Belgium, Sweden, etc.).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Jazz, Blues, and Latin appear as niche #2 genres in some markets.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Asia (India): Rock #1, Alternative &amp; Punk #2.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Oceania (Australia): Rock #1, Alternative &amp; Punk #2.</a:t>
            </a: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4450"/>
              </a:lnSpc>
            </a:pPr>
            <a:endParaRPr lang="en-US" sz="2800" spc="89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19200" y="7581900"/>
            <a:ext cx="16608516" cy="246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20"/>
              </a:lnSpc>
            </a:pPr>
            <a:r>
              <a:rPr lang="en-US" sz="2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Takeaway:</a:t>
            </a:r>
            <a:endParaRPr lang="en-US" sz="2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Rock is the universal anchor genre across regions.</a:t>
            </a:r>
            <a:endParaRPr lang="en-US" sz="2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3920"/>
              </a:lnSpc>
              <a:buFont typeface="Arial" panose="020B0604020202020204"/>
              <a:buChar char="•"/>
            </a:pPr>
            <a:r>
              <a:rPr lang="en-US" sz="2800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Secondary genres differ by region → Metal dominates in Europe, while Alt &amp; Punk is stronger in South America, India, and Australia.</a:t>
            </a:r>
            <a:endParaRPr lang="en-US" sz="2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3920"/>
              </a:lnSpc>
            </a:pPr>
            <a:endParaRPr lang="en-US" sz="28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18310" y="923925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PRODUCT AFFINITY (CROSS-SELL)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40875" y="3088031"/>
            <a:ext cx="13872092" cy="2775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Strong pairings: Rock ↔ Metal (871), Rock ↔ Alt &amp; Punk (520)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Artist clusters include Green Day, Foo Fighters, Nirvana, RHCP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Albums like Mezmerize and My Generation show strong co-purchase links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Cross-sell bundles can increase order value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4450"/>
              </a:lnSpc>
            </a:pP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2540875" y="5875970"/>
            <a:ext cx="14466648" cy="2392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l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Insight: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Rock↔Metal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and </a:t>
            </a:r>
            <a:r>
              <a:rPr lang="en-US" sz="2800" dirty="0" err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Rock↔Alt</a:t>
            </a:r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 &amp; Punk show strong co-purchase links.</a:t>
            </a:r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l">
              <a:lnSpc>
                <a:spcPts val="4845"/>
              </a:lnSpc>
              <a:buFont typeface="Arial" panose="020B0604020202020204"/>
              <a:buChar char="•"/>
            </a:pPr>
            <a:r>
              <a:rPr 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Introduce bundles and recommendation engines to boost order value.</a:t>
            </a:r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845"/>
              </a:lnSpc>
            </a:pPr>
            <a:endParaRPr lang="en-US" sz="280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118310" y="923925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RISK PROFILING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40875" y="3088031"/>
            <a:ext cx="15747125" cy="389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High risk: inactive &gt;180 days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Medium risk: low-frequency buyers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Low spender: frequent but low-value purchases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Low risk: loyal and consistent high spenders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Countries with many high-risk, low-value customers: Canada, Denmark, Argentina, Italy, USA, Belgium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4450"/>
              </a:lnSpc>
            </a:pP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61975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RISK DRIVERS:</a:t>
            </a:r>
            <a:endParaRPr lang="en-US" sz="4800" spc="720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59789" y="1805560"/>
            <a:ext cx="17428211" cy="2775965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Recency: Long inactivity is the strongest churn signal.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Value: Low total spend despite multiple purchases = low ROI customers.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Country effect: Markets like Canada, USA, Germany, France have both high-value low-risk and high-risk clusters → mixed segments.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4450"/>
              </a:lnSpc>
            </a:pP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859789" y="4824935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TAKEAWAY</a:t>
            </a:r>
            <a:endParaRPr lang="en-US" sz="4800" spc="720">
              <a:solidFill>
                <a:srgbClr val="0070C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95892" y="6068695"/>
            <a:ext cx="14008655" cy="3337940"/>
          </a:xfrm>
          <a:prstGeom prst="rect">
            <a:avLst/>
          </a:prstGeom>
        </p:spPr>
        <p:txBody>
          <a:bodyPr lIns="0" tIns="0" rIns="0" bIns="0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Most likely to churn: High-risk inactives &amp; low spenders.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Most stable: Recently active, high-value customers (Czech, Ireland, India).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Strategy: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Win-back inactive high-value customers with strong offers.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Convert low spenders via bundles, cross-sell, and discounts.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4450"/>
              </a:lnSpc>
            </a:pP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61975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ALBUM RECOMMENDATIONS (USA)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901375"/>
            <a:ext cx="15989975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Insight: 3 albums lead in USA sales (Wishkah Live, Are You Experienced, Green).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Feature these albums in targeted U.S. promotions.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561975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ALBUM RECOMMENDATIONS (USA)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2901375"/>
            <a:ext cx="15989975" cy="1661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Insight: 3 albums lead in USA sales (Wishkah Live, Are You Experienced, Green).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90880" lvl="1" indent="-345440" algn="l">
              <a:lnSpc>
                <a:spcPts val="4480"/>
              </a:lnSpc>
              <a:buFont typeface="Arial" panose="020B0604020202020204"/>
              <a:buChar char="•"/>
            </a:pPr>
            <a:r>
              <a:rPr lang="en-US" sz="32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Recommendation: Feature these albums in targeted U.S. promotions.</a:t>
            </a: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l">
              <a:lnSpc>
                <a:spcPts val="4480"/>
              </a:lnSpc>
            </a:pPr>
            <a:endParaRPr lang="en-US" sz="32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755892" y="1179624"/>
            <a:ext cx="14612768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0"/>
              </a:lnSpc>
            </a:pPr>
            <a:r>
              <a:rPr lang="en-US" sz="4800" spc="720">
                <a:solidFill>
                  <a:srgbClr val="0070C0"/>
                </a:solidFill>
                <a:latin typeface="Muli" panose="00000500000000000000"/>
                <a:ea typeface="Muli" panose="00000500000000000000"/>
                <a:cs typeface="Muli" panose="00000500000000000000"/>
                <a:sym typeface="Muli" panose="00000500000000000000"/>
              </a:rPr>
              <a:t>RECOMMENDATIONS</a:t>
            </a:r>
            <a:endParaRPr lang="en-US" sz="4800" spc="720">
              <a:solidFill>
                <a:srgbClr val="0070C0"/>
              </a:solidFill>
              <a:latin typeface="Muli" panose="00000500000000000000"/>
              <a:ea typeface="Muli" panose="00000500000000000000"/>
              <a:cs typeface="Muli" panose="00000500000000000000"/>
              <a:sym typeface="Muli" panose="0000050000000000000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62173" y="3002838"/>
            <a:ext cx="12786003" cy="389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Launch loyalty programs to retain long-term customers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Run win-back campaigns for inactive high-value customers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Promote USA market with top Rock and Alt albums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Expand presence in Czech Republic, Ireland, India (high spenders)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Re-engage Germany, Brazil, France to reduce churn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604520" lvl="1" indent="-302260" algn="just">
              <a:lnSpc>
                <a:spcPts val="4450"/>
              </a:lnSpc>
              <a:buFont typeface="Arial" panose="020B0604020202020204"/>
              <a:buChar char="•"/>
            </a:pPr>
            <a:r>
              <a:rPr lang="en-US" sz="2800" spc="89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nva Sans" panose="020B0503030501040103"/>
                <a:ea typeface="Canva Sans" panose="020B0503030501040103"/>
                <a:cs typeface="Canva Sans" panose="020B0503030501040103"/>
                <a:sym typeface="Canva Sans" panose="020B0503030501040103"/>
              </a:rPr>
              <a:t>Use affinity-based cross-sell (Rock ↔ Metal bundles, artist pairings)</a:t>
            </a: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algn="just">
              <a:lnSpc>
                <a:spcPts val="4450"/>
              </a:lnSpc>
            </a:pPr>
            <a:endParaRPr lang="en-US" sz="2800" spc="89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314586" y="4273591"/>
            <a:ext cx="13658828" cy="275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80"/>
              </a:lnSpc>
            </a:pPr>
            <a:r>
              <a:rPr lang="en-US" sz="1868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League Gothic" panose="00000500000000000000"/>
                <a:ea typeface="League Gothic" panose="00000500000000000000"/>
                <a:cs typeface="League Gothic" panose="00000500000000000000"/>
                <a:sym typeface="League Gothic" panose="00000500000000000000"/>
              </a:rPr>
              <a:t>THANK YOU</a:t>
            </a:r>
            <a:endParaRPr lang="en-US" sz="1868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League Gothic" panose="00000500000000000000"/>
              <a:ea typeface="League Gothic" panose="00000500000000000000"/>
              <a:cs typeface="League Gothic" panose="00000500000000000000"/>
              <a:sym typeface="League Gothic" panose="0000050000000000000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5607</Words>
  <Application>WPS Presentation</Application>
  <PresentationFormat>Custom</PresentationFormat>
  <Paragraphs>194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SimSun</vt:lpstr>
      <vt:lpstr>Wingdings</vt:lpstr>
      <vt:lpstr>League Gothic</vt:lpstr>
      <vt:lpstr>Segoe Print</vt:lpstr>
      <vt:lpstr>Muli</vt:lpstr>
      <vt:lpstr>Canva Sans Bold</vt:lpstr>
      <vt:lpstr>Arial</vt:lpstr>
      <vt:lpstr>Montserrat Semi-Bold</vt:lpstr>
      <vt:lpstr>Montserrat Medium</vt:lpstr>
      <vt:lpstr>Canva Sans</vt:lpstr>
      <vt:lpstr>Microsoft YaHei</vt:lpstr>
      <vt:lpstr>Arial Unicode MS</vt:lpstr>
      <vt:lpstr>Calibri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Simple Professional Data Analysis Presentation</dc:title>
  <dc:creator/>
  <cp:lastModifiedBy>Sono Routh</cp:lastModifiedBy>
  <cp:revision>4</cp:revision>
  <dcterms:created xsi:type="dcterms:W3CDTF">2006-08-16T00:00:00Z</dcterms:created>
  <dcterms:modified xsi:type="dcterms:W3CDTF">2026-02-19T04:06:41Z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4072FA770F8C48E79F3454B8C7F5E532_13</vt:lpwstr>
  </property>
  <property fmtid="{D5CDD505-2E9C-101B-9397-08002B2CF9AE}" pid="3" name="KSOProductBuildVer">
    <vt:lpwstr>1033-12.2.0.23196</vt:lpwstr>
  </property>
</Properties>
</file>